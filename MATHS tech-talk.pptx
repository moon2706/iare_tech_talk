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80" r:id="rId4"/>
    <p:sldId id="279" r:id="rId5"/>
    <p:sldId id="260" r:id="rId6"/>
    <p:sldId id="261" r:id="rId7"/>
    <p:sldId id="281" r:id="rId8"/>
    <p:sldId id="294" r:id="rId9"/>
    <p:sldId id="293" r:id="rId10"/>
    <p:sldId id="296" r:id="rId11"/>
    <p:sldId id="295" r:id="rId12"/>
    <p:sldId id="292" r:id="rId13"/>
    <p:sldId id="262" r:id="rId14"/>
    <p:sldId id="263" r:id="rId15"/>
    <p:sldId id="264" r:id="rId16"/>
    <p:sldId id="265" r:id="rId17"/>
    <p:sldId id="266" r:id="rId18"/>
    <p:sldId id="291" r:id="rId19"/>
    <p:sldId id="282" r:id="rId20"/>
    <p:sldId id="284" r:id="rId21"/>
    <p:sldId id="287" r:id="rId22"/>
    <p:sldId id="286" r:id="rId23"/>
    <p:sldId id="290" r:id="rId24"/>
    <p:sldId id="289" r:id="rId25"/>
    <p:sldId id="288" r:id="rId26"/>
    <p:sldId id="270" r:id="rId27"/>
    <p:sldId id="268" r:id="rId28"/>
    <p:sldId id="272" r:id="rId29"/>
    <p:sldId id="273" r:id="rId30"/>
    <p:sldId id="274" r:id="rId31"/>
    <p:sldId id="275" r:id="rId32"/>
    <p:sldId id="276" r:id="rId33"/>
    <p:sldId id="277" r:id="rId34"/>
    <p:sldId id="29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251" y="894346"/>
            <a:ext cx="5518066" cy="2683044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AAT TECH-TALK</a:t>
            </a:r>
            <a:br>
              <a:rPr lang="en-US" sz="5400" dirty="0"/>
            </a:br>
            <a:r>
              <a:rPr lang="en-US" sz="5400" dirty="0"/>
              <a:t>MATHEMATICS</a:t>
            </a:r>
            <a:br>
              <a:rPr lang="en-US" sz="5400" dirty="0"/>
            </a:br>
            <a:r>
              <a:rPr lang="en-US" sz="5400" dirty="0"/>
              <a:t>(AHSC02)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8D341-44D6-4520-AB91-FB44FF258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022" y="3872730"/>
            <a:ext cx="5357600" cy="2683044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Roll No. : 21951A66A9</a:t>
            </a:r>
          </a:p>
          <a:p>
            <a:pPr algn="l"/>
            <a:r>
              <a:rPr lang="en-IN" sz="2800" dirty="0"/>
              <a:t>Presenter Name:</a:t>
            </a:r>
          </a:p>
          <a:p>
            <a:pPr algn="l"/>
            <a:r>
              <a:rPr lang="en-IN" sz="2800" dirty="0"/>
              <a:t>RISHIKESH PRADHAN</a:t>
            </a:r>
          </a:p>
          <a:p>
            <a:pPr algn="l"/>
            <a:r>
              <a:rPr lang="en-IN" sz="2800" dirty="0"/>
              <a:t>Branch: CSE(AI &amp; ML)</a:t>
            </a:r>
          </a:p>
        </p:txBody>
      </p:sp>
    </p:spTree>
    <p:extLst>
      <p:ext uri="{BB962C8B-B14F-4D97-AF65-F5344CB8AC3E}">
        <p14:creationId xmlns:p14="http://schemas.microsoft.com/office/powerpoint/2010/main" val="344761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989" y="1405688"/>
            <a:ext cx="7620000" cy="404662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latin typeface="Neue Haas Grotesk Text Pro" panose="020B0504020202020204" pitchFamily="34" charset="0"/>
              </a:rPr>
              <a:t>TOPIC NAME:</a:t>
            </a:r>
            <a:br>
              <a:rPr lang="en-US" sz="6000" b="1" dirty="0">
                <a:latin typeface="Neue Haas Grotesk Text Pro" panose="020B05040202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DIAGONALIZATION OF A REAL SYMMETRICAL  MATRIX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15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4511844"/>
          </a:xfrm>
        </p:spPr>
        <p:txBody>
          <a:bodyPr>
            <a:noAutofit/>
          </a:bodyPr>
          <a:lstStyle/>
          <a:p>
            <a:pPr algn="l"/>
            <a:r>
              <a:rPr lang="nl-NL" sz="2800" u="sng" dirty="0"/>
              <a:t>Eigen values and eigen vectors</a:t>
            </a:r>
            <a:br>
              <a:rPr lang="nl-NL" sz="2800" dirty="0"/>
            </a:br>
            <a:br>
              <a:rPr lang="en-IN" sz="2800" dirty="0"/>
            </a:br>
            <a:r>
              <a:rPr lang="en-US" sz="2800" dirty="0" err="1"/>
              <a:t>Defination</a:t>
            </a:r>
            <a:r>
              <a:rPr lang="en-US" sz="2800" dirty="0"/>
              <a:t> of Eigen Value and Eigen Vector:</a:t>
            </a: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r>
              <a:rPr lang="en-US" sz="2800" dirty="0"/>
              <a:t>Let A=[</a:t>
            </a:r>
            <a:r>
              <a:rPr lang="en-US" sz="2800" dirty="0" err="1"/>
              <a:t>aij</a:t>
            </a:r>
            <a:r>
              <a:rPr lang="en-US" sz="2800" dirty="0"/>
              <a:t>] be an </a:t>
            </a:r>
            <a:r>
              <a:rPr lang="en-US" sz="2800" dirty="0" err="1"/>
              <a:t>nxn</a:t>
            </a:r>
            <a:r>
              <a:rPr lang="en-US" sz="2800" dirty="0"/>
              <a:t> matrix. A non-zero vector X is said to be a characteristic vector of A if there exists a scalar </a:t>
            </a:r>
            <a:r>
              <a:rPr lang="el-GR" sz="2800" b="0" i="0" dirty="0">
                <a:effectLst/>
                <a:latin typeface="-apple-system"/>
              </a:rPr>
              <a:t>λ</a:t>
            </a:r>
            <a:r>
              <a:rPr lang="en-US" sz="2800" dirty="0">
                <a:latin typeface="-apple-system"/>
              </a:rPr>
              <a:t> Such that AX=</a:t>
            </a:r>
            <a:r>
              <a:rPr lang="el-GR" sz="2800" b="0" i="0" dirty="0">
                <a:effectLst/>
                <a:latin typeface="-apple-system"/>
              </a:rPr>
              <a:t>λ</a:t>
            </a:r>
            <a:r>
              <a:rPr lang="en-US" sz="2800" dirty="0">
                <a:latin typeface="-apple-system"/>
              </a:rPr>
              <a:t>X </a:t>
            </a:r>
            <a:br>
              <a:rPr lang="en-US" sz="2800" dirty="0">
                <a:latin typeface="-apple-system"/>
              </a:rPr>
            </a:br>
            <a:br>
              <a:rPr lang="en-US" sz="2800" dirty="0">
                <a:latin typeface="-apple-system"/>
              </a:rPr>
            </a:br>
            <a:r>
              <a:rPr lang="en-US" sz="2800" dirty="0">
                <a:latin typeface="-apple-system"/>
              </a:rPr>
              <a:t>If AX=</a:t>
            </a:r>
            <a:r>
              <a:rPr lang="el-GR" sz="2800" b="0" i="0" dirty="0">
                <a:effectLst/>
                <a:latin typeface="-apple-system"/>
              </a:rPr>
              <a:t>λ</a:t>
            </a:r>
            <a:r>
              <a:rPr lang="en-US" sz="2800" dirty="0">
                <a:latin typeface="-apple-system"/>
              </a:rPr>
              <a:t>X (X≠0), X is an Eigen Vector or characteristic vector of A corresponding to the Eigen value of A. 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1154568" y="375809"/>
            <a:ext cx="680791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400" b="1" dirty="0">
                <a:solidFill>
                  <a:srgbClr val="FFFFFF"/>
                </a:solidFill>
                <a:effectLst/>
                <a:latin typeface="urw-din"/>
              </a:rPr>
              <a:t>Prerequisite: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1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4239128"/>
          </a:xfrm>
        </p:spPr>
        <p:txBody>
          <a:bodyPr>
            <a:normAutofit/>
          </a:bodyPr>
          <a:lstStyle/>
          <a:p>
            <a:pPr algn="l"/>
            <a:br>
              <a:rPr lang="nl-NL" sz="2800" dirty="0">
                <a:solidFill>
                  <a:srgbClr val="FFFFFF"/>
                </a:solidFill>
                <a:latin typeface="urw-din"/>
              </a:rPr>
            </a:br>
            <a:r>
              <a:rPr lang="en-US" sz="2800" dirty="0">
                <a:solidFill>
                  <a:srgbClr val="FFFFFF"/>
                </a:solidFill>
                <a:latin typeface="urw-din"/>
              </a:rPr>
              <a:t>Let A and B be two matrices of order n. B can be considered similar to A if there exists an invertible matrix P such that </a:t>
            </a: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r>
              <a:rPr lang="en-US" sz="2800" dirty="0">
                <a:solidFill>
                  <a:srgbClr val="FFFFFF"/>
                </a:solidFill>
                <a:latin typeface="urw-din"/>
              </a:rPr>
              <a:t>This is known as </a:t>
            </a:r>
            <a:r>
              <a:rPr lang="en-US" sz="2800" b="1" dirty="0">
                <a:solidFill>
                  <a:srgbClr val="FFFFFF"/>
                </a:solidFill>
                <a:latin typeface="urw-din"/>
              </a:rPr>
              <a:t>Matrix Similarity Transformation</a:t>
            </a:r>
            <a:r>
              <a:rPr lang="en-US" sz="2800" dirty="0">
                <a:solidFill>
                  <a:srgbClr val="FFFFFF"/>
                </a:solidFill>
                <a:latin typeface="urw-din"/>
              </a:rPr>
              <a:t>.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1154568" y="375809"/>
            <a:ext cx="680791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>
                <a:solidFill>
                  <a:srgbClr val="FFFFFF"/>
                </a:solidFill>
                <a:latin typeface="sofia-pro"/>
              </a:rPr>
              <a:t>Matrix Diagonalization</a:t>
            </a:r>
            <a:br>
              <a:rPr lang="en-IN" sz="5400" b="1" dirty="0">
                <a:solidFill>
                  <a:srgbClr val="FFFFFF"/>
                </a:solidFill>
                <a:latin typeface="sofia-pro"/>
              </a:rPr>
            </a:br>
            <a:endParaRPr lang="en-IN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6262F-D768-4F79-9C69-A316F30CB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810" y="3350644"/>
            <a:ext cx="4474124" cy="67406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70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462414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urw-din"/>
              </a:rPr>
              <a:t>Diagonalization of a matrix</a:t>
            </a:r>
            <a:r>
              <a:rPr lang="en-US" sz="2800" dirty="0">
                <a:solidFill>
                  <a:srgbClr val="FFFFFF"/>
                </a:solidFill>
                <a:latin typeface="urw-din"/>
              </a:rPr>
              <a:t> is defined as the process of reducing any matrix A into its diagonal form D. As per the similarity transformation, if the matrix A is related to D, then</a:t>
            </a: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br>
              <a:rPr lang="en-US" sz="2800" dirty="0">
                <a:solidFill>
                  <a:srgbClr val="FFFFFF"/>
                </a:solidFill>
                <a:latin typeface="urw-din"/>
              </a:rPr>
            </a:br>
            <a: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  <a:t>and the matrix A is reduced to the diagonal matrix D through another matrix P. </a:t>
            </a:r>
            <a:r>
              <a:rPr lang="en-US" sz="2800" b="1" i="0" dirty="0">
                <a:solidFill>
                  <a:srgbClr val="FFFFFF"/>
                </a:solidFill>
                <a:effectLst/>
                <a:latin typeface="urw-din"/>
              </a:rPr>
              <a:t>(P ≡ modal matrix)</a:t>
            </a: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solidFill>
                  <a:srgbClr val="FFFFFF"/>
                </a:solidFill>
                <a:latin typeface="urw-din"/>
              </a:rPr>
              <a:t>Diagonalization of a matrix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A6769D-732D-46D7-876E-BB4095D11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398" y="3687678"/>
            <a:ext cx="4494947" cy="66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8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3789949"/>
          </a:xfrm>
        </p:spPr>
        <p:txBody>
          <a:bodyPr>
            <a:noAutofit/>
          </a:bodyPr>
          <a:lstStyle/>
          <a:p>
            <a:pPr algn="l"/>
            <a:r>
              <a:rPr lang="en-US" sz="2800" b="1" i="1" dirty="0">
                <a:solidFill>
                  <a:srgbClr val="FFFFFF"/>
                </a:solidFill>
                <a:effectLst/>
                <a:latin typeface="urw-din"/>
              </a:rPr>
              <a:t>Modal matrix: </a:t>
            </a:r>
            <a:r>
              <a:rPr lang="en-US" sz="2800" b="0" i="1" dirty="0">
                <a:solidFill>
                  <a:srgbClr val="FFFFFF"/>
                </a:solidFill>
                <a:effectLst/>
                <a:latin typeface="urw-din"/>
              </a:rPr>
              <a:t>It is a (n x n) matrix that consists of eigen-vectors. It is generally used in the process of diagonalization and similarity transformation.</a:t>
            </a:r>
            <a:br>
              <a:rPr lang="en-US" sz="2800" b="0" i="1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1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1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1" dirty="0">
                <a:solidFill>
                  <a:srgbClr val="FFFFFF"/>
                </a:solidFill>
                <a:effectLst/>
                <a:latin typeface="urw-din"/>
              </a:rPr>
            </a:br>
            <a: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  <a:t>In simpler words, it is the process of taking a square matrix and converting it into a special type of matrix called a </a:t>
            </a:r>
            <a:r>
              <a:rPr lang="en-US" sz="2800" b="1" i="0" dirty="0">
                <a:solidFill>
                  <a:srgbClr val="FFFFFF"/>
                </a:solidFill>
                <a:effectLst/>
                <a:latin typeface="urw-din"/>
              </a:rPr>
              <a:t>diagonal matrix.</a:t>
            </a: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i="1" dirty="0">
                <a:solidFill>
                  <a:srgbClr val="FFFFFF"/>
                </a:solidFill>
                <a:effectLst/>
                <a:latin typeface="urw-din"/>
              </a:rPr>
              <a:t>Modal matrix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A2E5F-4171-4BBF-8083-009EAD8AA72B}"/>
              </a:ext>
            </a:extLst>
          </p:cNvPr>
          <p:cNvSpPr txBox="1"/>
          <p:nvPr/>
        </p:nvSpPr>
        <p:spPr>
          <a:xfrm>
            <a:off x="3048000" y="29713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74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50D850-5A8D-42D8-A233-4527BFD0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12" y="0"/>
            <a:ext cx="9168848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9765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2366D-F954-41FD-8036-0EBB6C0EA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93646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4632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CBFDC-E76E-4F7B-906F-95394E160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25643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6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21CE5-A57B-427E-A9BF-F29882C5B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93646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05203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B651F-6C53-4705-BD4E-01B915358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5625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457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79AC81-ECDB-4CCB-B8EF-C1B0ED57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1748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573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3789949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Step 1 -</a:t>
            </a:r>
            <a:r>
              <a:rPr lang="en-US" sz="2800" dirty="0"/>
              <a:t> Initialize the diagonal matrix D as: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where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λ</a:t>
            </a:r>
            <a:r>
              <a:rPr kumimoji="0" lang="en-US" altLang="en-US" sz="2800" b="1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1, λ2, λ3 -&gt;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eigen values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rgbClr val="FFFFFF"/>
                </a:solidFill>
                <a:latin typeface="urw-din"/>
              </a:rPr>
              <a:t>Steps Involved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86815-F477-46FD-ADFB-933EC9D89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350" y="2754400"/>
            <a:ext cx="4268454" cy="164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3"/>
            <a:ext cx="7764379" cy="4914077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Step 2 - </a:t>
            </a:r>
            <a:r>
              <a:rPr lang="en-US" sz="2800" dirty="0"/>
              <a:t>Find the eigen values using the equation given below.</a:t>
            </a:r>
            <a:br>
              <a:rPr lang="en-IN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where,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A -&gt;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given 3x3 square matrix.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 -&gt;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identity matrix of size 3x3.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λ -&gt;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eigen value.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rgbClr val="FFFFFF"/>
                </a:solidFill>
                <a:latin typeface="urw-din"/>
              </a:rPr>
              <a:t>Steps Involved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82D036-645D-4A44-9BB3-698ADABF5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621" y="3302666"/>
            <a:ext cx="4640323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61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4608098"/>
          </a:xfrm>
        </p:spPr>
        <p:txBody>
          <a:bodyPr>
            <a:noAutofit/>
          </a:bodyPr>
          <a:lstStyle/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Step 3 -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Compute the corresponding eigen vectors using the equation given below.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where,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λ</a:t>
            </a:r>
            <a:r>
              <a:rPr kumimoji="0" lang="en-US" altLang="en-US" sz="2800" b="1" i="0" u="none" strike="noStrike" cap="none" normalizeH="0" baseline="-3000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800" b="1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-&gt;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eigen value.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2800" b="1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 -&gt;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corresponding eigen vector.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rgbClr val="FFFFFF"/>
                </a:solidFill>
                <a:latin typeface="urw-din"/>
              </a:rPr>
              <a:t>Steps Involved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FE2FF-EF65-425F-86E6-15F3A5CF1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429" y="2759242"/>
            <a:ext cx="4146885" cy="13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09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568114"/>
            <a:ext cx="7764379" cy="4367466"/>
          </a:xfrm>
        </p:spPr>
        <p:txBody>
          <a:bodyPr>
            <a:noAutofit/>
          </a:bodyPr>
          <a:lstStyle/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Step 4 –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Create the modal matrix P.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lang="en-US" altLang="en-US" sz="2800" dirty="0"/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Here, all the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aeigen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vectors till X</a:t>
            </a:r>
            <a:r>
              <a:rPr kumimoji="0" lang="en-US" altLang="en-US" sz="2800" b="0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are filled column wise in matrix P.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rgbClr val="FFFFFF"/>
                </a:solidFill>
                <a:latin typeface="urw-din"/>
              </a:rPr>
              <a:t>Steps Involved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A67153-3159-432A-973B-9929E85D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46" y="3376863"/>
            <a:ext cx="4356685" cy="63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24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767638"/>
            <a:ext cx="7764379" cy="309312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Step 5 -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Find P</a:t>
            </a:r>
            <a:r>
              <a:rPr kumimoji="0" lang="en-US" altLang="en-US" sz="1600" b="0" i="0" u="none" strike="noStrike" cap="none" normalizeH="0" baseline="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and then use equation given below to find diagonal matrix D.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rgbClr val="FFFFFF"/>
                </a:solidFill>
                <a:latin typeface="urw-din"/>
              </a:rPr>
              <a:t>Steps Involved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F614C-678A-41E5-8A08-CBD7DBD5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22" y="3224463"/>
            <a:ext cx="4906629" cy="72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8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95F90D-433D-40D2-9841-6F6D66D3D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953484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55973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6EBD4-E32E-4D7B-99A8-CF86FA2F8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946775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5932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602E9-76EF-464C-863A-948F93D1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6566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79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76545-085E-4308-82DB-2738F967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42" y="0"/>
            <a:ext cx="9168848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49539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94C124-6D8B-4EE1-8F16-293C01FFC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6256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75289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149683-2BC4-4276-AC73-2AD7357A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630" y="0"/>
            <a:ext cx="9173336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61339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28E7C-D9A3-4EA0-B7C1-E8CC6ED7A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1478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1324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8AFD84-AC97-4831-AFA9-F0102BF89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4991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38952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E63-7F8B-4DD5-BB03-CD3CABFF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683" y="1767637"/>
            <a:ext cx="7764379" cy="4119815"/>
          </a:xfrm>
        </p:spPr>
        <p:txBody>
          <a:bodyPr>
            <a:noAutofit/>
          </a:bodyPr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2800" b="1" i="0" dirty="0">
                <a:solidFill>
                  <a:srgbClr val="FFFFFF"/>
                </a:solidFill>
                <a:effectLst/>
                <a:latin typeface="urw-din"/>
              </a:rPr>
              <a:t>Problem Statement:</a:t>
            </a:r>
            <a: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  <a:t> Assume a 3×3 square matrix A having the following values:</a:t>
            </a:r>
            <a:b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</a:br>
            <a:r>
              <a:rPr lang="en-US" sz="2800" dirty="0">
                <a:solidFill>
                  <a:srgbClr val="FFFFFF"/>
                </a:solidFill>
                <a:latin typeface="urw-din"/>
              </a:rPr>
              <a:t>Find the diagonal matrix D of A using the diagonalization of matrix. [ D = P</a:t>
            </a:r>
            <a:r>
              <a:rPr lang="en-US" sz="2800" baseline="30000" dirty="0">
                <a:solidFill>
                  <a:srgbClr val="FFFFFF"/>
                </a:solidFill>
                <a:latin typeface="urw-din"/>
              </a:rPr>
              <a:t>-1</a:t>
            </a:r>
            <a:r>
              <a:rPr lang="en-US" sz="2800" dirty="0">
                <a:solidFill>
                  <a:srgbClr val="FFFFFF"/>
                </a:solidFill>
                <a:latin typeface="urw-din"/>
              </a:rPr>
              <a:t>AP ]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Example Problem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58BC3-BA58-41A9-A551-635007111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67" y="2796339"/>
            <a:ext cx="3826286" cy="161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89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C52993-C805-4947-8E44-4928B7A4C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12023" y="1639714"/>
            <a:ext cx="713362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Step 1 -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Initializing D as: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D9B3F-0714-4E90-AD93-186A46EF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904" y="2860860"/>
            <a:ext cx="4089290" cy="157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22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E0651-79CF-4F47-8F83-E298EE2465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52466" y="1527703"/>
            <a:ext cx="775957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Step 2 -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Find the eigen values.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(or possible values of λ)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D326B-2CED-4806-8618-D468FD7EF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88" y="2640212"/>
            <a:ext cx="4116054" cy="599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E7E9B1-BC9C-4706-A7FA-95F470FB5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12" y="3490372"/>
            <a:ext cx="7271277" cy="286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32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0593D-D843-43DC-BABA-5E8A638747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05282" y="1267799"/>
            <a:ext cx="776553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Step 3 -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Find the eigen vectors X</a:t>
            </a:r>
            <a:r>
              <a:rPr kumimoji="0" lang="en-US" altLang="en-US" sz="2800" b="0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X</a:t>
            </a:r>
            <a:r>
              <a:rPr kumimoji="0" lang="en-US" altLang="en-US" sz="2800" b="0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X</a:t>
            </a:r>
            <a:r>
              <a:rPr kumimoji="0" lang="en-US" altLang="en-US" sz="2800" b="0" i="0" u="none" strike="noStrike" cap="none" normalizeH="0" baseline="-3000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corresponding to the eigen values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λ = 1,2,3.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91659-AD53-4E8D-9CFA-4B9570155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89" y="2771023"/>
            <a:ext cx="7502356" cy="34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66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C52993-C805-4947-8E44-4928B7A4C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12023" y="1639713"/>
            <a:ext cx="713362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2800" b="1" dirty="0"/>
              <a:t>Step 4 -</a:t>
            </a:r>
            <a:r>
              <a:rPr lang="en-US" sz="2800" dirty="0"/>
              <a:t> Creation of modal matrix P. (here, X</a:t>
            </a:r>
            <a:r>
              <a:rPr lang="en-US" sz="2800" baseline="-25000" dirty="0"/>
              <a:t>1</a:t>
            </a:r>
            <a:r>
              <a:rPr lang="en-US" sz="2800" dirty="0"/>
              <a:t>, X</a:t>
            </a:r>
            <a:r>
              <a:rPr lang="en-US" sz="2800" baseline="-25000" dirty="0"/>
              <a:t>2</a:t>
            </a:r>
            <a:r>
              <a:rPr lang="en-US" sz="2800" dirty="0"/>
              <a:t>, X</a:t>
            </a:r>
            <a:r>
              <a:rPr lang="en-US" sz="2800" baseline="-25000" dirty="0"/>
              <a:t>3</a:t>
            </a:r>
            <a:r>
              <a:rPr lang="en-US" sz="2800" dirty="0"/>
              <a:t> are column vectors)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0D1D4-3195-4CDE-B981-F379E033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04" y="3080085"/>
            <a:ext cx="6976695" cy="159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96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C52993-C805-4947-8E44-4928B7A4C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34320" y="1267799"/>
            <a:ext cx="748029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 P-1 and then putting values in diagonalization of a matrix equation.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[D = P-1AP]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do Step 5 to find out which eigen value will replace λ1, λ2 and λ3 in the initial diagonal matrix created in Step 1.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305067-8C00-4953-8702-491307F4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58" y="4039156"/>
            <a:ext cx="7805563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33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C52993-C805-4947-8E44-4928B7A4C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48874" y="1267799"/>
            <a:ext cx="756675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  <a:t>We know that</a:t>
            </a: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  <a:t>On solving, we get</a:t>
            </a: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br>
              <a:rPr lang="en-IN" sz="2800" b="0" i="0" dirty="0">
                <a:solidFill>
                  <a:srgbClr val="FFFFFF"/>
                </a:solidFill>
                <a:effectLst/>
                <a:latin typeface="urw-din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D7E025-52E8-4055-8CDC-9DED40AE9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85" y="1875169"/>
            <a:ext cx="3064794" cy="870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C4B98B-804C-4E2B-8CB1-4CC1448BA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320" y="3805227"/>
            <a:ext cx="5379596" cy="16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27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993683" y="375809"/>
            <a:ext cx="7877138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i="0" dirty="0">
                <a:solidFill>
                  <a:srgbClr val="FFFFFF"/>
                </a:solidFill>
                <a:effectLst/>
                <a:latin typeface="urw-din"/>
              </a:rPr>
              <a:t>Step by step solution:</a:t>
            </a:r>
            <a:endParaRPr lang="en-IN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9F924-1C9F-40E1-AF5A-93080726EB4A}"/>
              </a:ext>
            </a:extLst>
          </p:cNvPr>
          <p:cNvSpPr txBox="1">
            <a:spLocks/>
          </p:cNvSpPr>
          <p:nvPr/>
        </p:nvSpPr>
        <p:spPr>
          <a:xfrm>
            <a:off x="9031706" y="375809"/>
            <a:ext cx="2756822" cy="8919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sofia-pro"/>
              </a:rPr>
              <a:t>Rough</a:t>
            </a:r>
            <a:endParaRPr lang="en-IN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C52993-C805-4947-8E44-4928B7A4C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12023" y="2031230"/>
            <a:ext cx="713362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i="0" dirty="0">
                <a:solidFill>
                  <a:srgbClr val="FFFFFF"/>
                </a:solidFill>
                <a:effectLst/>
                <a:latin typeface="urw-din"/>
              </a:rPr>
              <a:t>Putting in Diagonalization of Matrix equation, we get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286F3E-7E30-42D0-832D-D5350FE61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23" y="3656435"/>
            <a:ext cx="7743219" cy="263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26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D40296-AEB1-4D92-990C-A4B0D89AC987}"/>
              </a:ext>
            </a:extLst>
          </p:cNvPr>
          <p:cNvSpPr txBox="1">
            <a:spLocks/>
          </p:cNvSpPr>
          <p:nvPr/>
        </p:nvSpPr>
        <p:spPr>
          <a:xfrm>
            <a:off x="1048870" y="1541929"/>
            <a:ext cx="7687479" cy="11116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7200" b="1" i="0" dirty="0">
                <a:solidFill>
                  <a:srgbClr val="FFFFFF"/>
                </a:solidFill>
                <a:effectLst/>
                <a:latin typeface="urw-din"/>
              </a:rPr>
              <a:t>THANK YOU</a:t>
            </a:r>
            <a:endParaRPr lang="en-IN" sz="7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1C6BFE1-F89F-4551-B579-8C3C1FC55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8365" y="3352893"/>
            <a:ext cx="4824411" cy="1963177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Roll No. : 21951A66A9</a:t>
            </a:r>
          </a:p>
          <a:p>
            <a:pPr algn="l"/>
            <a:r>
              <a:rPr lang="en-IN" sz="2800" dirty="0"/>
              <a:t>Presenter Name:</a:t>
            </a:r>
          </a:p>
          <a:p>
            <a:pPr algn="l"/>
            <a:r>
              <a:rPr lang="en-IN" sz="2800" dirty="0"/>
              <a:t>RISHIKESH PRADHAN</a:t>
            </a:r>
          </a:p>
          <a:p>
            <a:pPr algn="l"/>
            <a:r>
              <a:rPr lang="en-IN" sz="2800" dirty="0"/>
              <a:t>Branch: CSE(AI &amp; ML)</a:t>
            </a:r>
          </a:p>
        </p:txBody>
      </p:sp>
    </p:spTree>
    <p:extLst>
      <p:ext uri="{BB962C8B-B14F-4D97-AF65-F5344CB8AC3E}">
        <p14:creationId xmlns:p14="http://schemas.microsoft.com/office/powerpoint/2010/main" val="1859860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180</TotalTime>
  <Words>737</Words>
  <Application>Microsoft Office PowerPoint</Application>
  <PresentationFormat>Widescreen</PresentationFormat>
  <Paragraphs>76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-apple-system</vt:lpstr>
      <vt:lpstr>Arial</vt:lpstr>
      <vt:lpstr>Arial Black</vt:lpstr>
      <vt:lpstr>Consolas</vt:lpstr>
      <vt:lpstr>MS Shell Dlg 2</vt:lpstr>
      <vt:lpstr>Neue Haas Grotesk Text Pro</vt:lpstr>
      <vt:lpstr>sofia-pro</vt:lpstr>
      <vt:lpstr>urw-din</vt:lpstr>
      <vt:lpstr>Wingdings</vt:lpstr>
      <vt:lpstr>Wingdings 3</vt:lpstr>
      <vt:lpstr>Madison</vt:lpstr>
      <vt:lpstr>AAT TECH-TALK MATHEMATICS (AHSC02)</vt:lpstr>
      <vt:lpstr>TOPIC NAME: DIAGONALIZATION OF A REAL SYMMETRICAL  MATRIX</vt:lpstr>
      <vt:lpstr>Eigen values and eigen vectors  Defination of Eigen Value and Eigen Vector:   Let A=[aij] be an nxn matrix. A non-zero vector X is said to be a characteristic vector of A if there exists a scalar λ Such that AX=λX   If AX=λX (X≠0), X is an Eigen Vector or characteristic vector of A corresponding to the Eigen value of A.  </vt:lpstr>
      <vt:lpstr> Let A and B be two matrices of order n. B can be considered similar to A if there exists an invertible matrix P such that     This is known as Matrix Similarity Transformation. </vt:lpstr>
      <vt:lpstr>Diagonalization of a matrix is defined as the process of reducing any matrix A into its diagonal form D. As per the similarity transformation, if the matrix A is related to D, then      and the matrix A is reduced to the diagonal matrix D through another matrix P. (P ≡ modal matrix)</vt:lpstr>
      <vt:lpstr>Modal matrix: It is a (n x n) matrix that consists of eigen-vectors. It is generally used in the process of diagonalization and similarity transformation.    In simpler words, it is the process of taking a square matrix and converting it into a special type of matrix called a diagonal matrix.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1 - Initialize the diagonal matrix D as:        where λ1, λ2, λ3 -&gt; eigen values  </vt:lpstr>
      <vt:lpstr>Step 2 - Find the eigen values using the equation given below.      where,  A -&gt; given 3x3 square matrix.  I -&gt; identity matrix of size 3x3.  λ -&gt; eigen value.  </vt:lpstr>
      <vt:lpstr>Step 3 - Compute the corresponding eigen vectors using the equation given below.     where,  λi -&gt; eigen value.   Xi -&gt; corresponding eigen vector.  </vt:lpstr>
      <vt:lpstr>Step 4 – Create the modal matrix P.        Here, all the aeigen vectors till Xi are filled column wise in matrix P.  </vt:lpstr>
      <vt:lpstr>Step 5 - Find P-1 and then use equation given below to find diagonal matrix D.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Statement: Assume a 3×3 square matrix A having the following values:      Find the diagonal matrix D of A using the diagonalization of matrix. [ D = P-1AP ]</vt:lpstr>
      <vt:lpstr>Step 1 - Initializing D as:  </vt:lpstr>
      <vt:lpstr>Step 2 - Find the eigen values.  (or possible values of λ) </vt:lpstr>
      <vt:lpstr>Step 3 - Find the eigen vectors X1, X2, X3 corresponding to the eigen values  λ = 1,2,3. </vt:lpstr>
      <vt:lpstr>Step 4 - Creation of modal matrix P. (here, X1, X2, X3 are column vectors)</vt:lpstr>
      <vt:lpstr>Step 5 - Finding P-1 and then putting values in diagonalization of a matrix equation.  [D = P-1AP] We do Step 5 to find out which eigen value will replace λ1, λ2 and λ3 in the initial diagonal matrix created in Step 1.</vt:lpstr>
      <vt:lpstr>We know that    On solving, we get   </vt:lpstr>
      <vt:lpstr>Putting in Diagonalization of Matrix equation, we get</vt:lpstr>
      <vt:lpstr>Roll No. : 21951A66A9 Presenter Name: RISHIKESH PRADHAN Branch: CSE(AI &amp; ML)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rishikesh pradhan</dc:creator>
  <cp:lastModifiedBy>rishikesh pradhan</cp:lastModifiedBy>
  <cp:revision>35</cp:revision>
  <dcterms:created xsi:type="dcterms:W3CDTF">2022-01-20T15:09:40Z</dcterms:created>
  <dcterms:modified xsi:type="dcterms:W3CDTF">2022-01-22T07:00:35Z</dcterms:modified>
</cp:coreProperties>
</file>